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98448" y="1170432"/>
            <a:ext cx="76809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PROCESAMIENTO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COGNITIVO DEL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DISCURSO EDUCATIVO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1353312" y="3675888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4B5563"/>
                </a:solidFill>
              </a:rPr>
              <a:t>Estructuras, vocabulario y relaciones logicas para la comprension y evaluacion en contextos escolares.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10561320" y="644652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4B5563"/>
                </a:solidFill>
              </a:rPr>
              <a:t>Guia visual educativa</a:t>
            </a:r>
            <a:endParaRPr lang="en-US" sz="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6692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Paleta oficial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85032" y="795528"/>
            <a:ext cx="566928" cy="0"/>
          </a:xfrm>
          <a:prstGeom prst="line">
            <a:avLst/>
          </a:prstGeom>
          <a:noFill/>
          <a:ln w="3048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" y="1261872"/>
            <a:ext cx="2359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426464"/>
            <a:ext cx="566928" cy="566928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81912" y="147218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</a:rPr>
              <a:t>Fondo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81912" y="1746504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</a:rPr>
              <a:t>#F8FAFC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3502152" y="1261872"/>
            <a:ext cx="2359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66744" y="1426464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00000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70832" y="147218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</a:rPr>
              <a:t>Principal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370832" y="1746504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</a:rPr>
              <a:t>#000000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6291072" y="1261872"/>
            <a:ext cx="2359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55664" y="1426464"/>
            <a:ext cx="566928" cy="566928"/>
          </a:xfrm>
          <a:prstGeom prst="roundRect">
            <a:avLst>
              <a:gd name="adj" fmla="val 6452"/>
            </a:avLst>
          </a:prstGeom>
          <a:solidFill>
            <a:srgbClr val="11111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59752" y="147218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</a:rPr>
              <a:t>Titulos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159752" y="1746504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</a:rPr>
              <a:t>#111111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9079992" y="1261872"/>
            <a:ext cx="2359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44584" y="1426464"/>
            <a:ext cx="566928" cy="566928"/>
          </a:xfrm>
          <a:prstGeom prst="roundRect">
            <a:avLst>
              <a:gd name="adj" fmla="val 6452"/>
            </a:avLst>
          </a:prstGeom>
          <a:solidFill>
            <a:srgbClr val="4B556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948672" y="1472184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</a:rPr>
              <a:t>Texto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948672" y="1746504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</a:rPr>
              <a:t>#4B5563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13232" y="2706624"/>
            <a:ext cx="2359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" y="2871216"/>
            <a:ext cx="566928" cy="566928"/>
          </a:xfrm>
          <a:prstGeom prst="roundRect">
            <a:avLst>
              <a:gd name="adj" fmla="val 6452"/>
            </a:avLst>
          </a:prstGeom>
          <a:solidFill>
            <a:srgbClr val="05966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81912" y="2916936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</a:rPr>
              <a:t>Verde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581912" y="3191256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</a:rPr>
              <a:t>#059669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3502152" y="2706624"/>
            <a:ext cx="2359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66744" y="2871216"/>
            <a:ext cx="566928" cy="566928"/>
          </a:xfrm>
          <a:prstGeom prst="roundRect">
            <a:avLst>
              <a:gd name="adj" fmla="val 6452"/>
            </a:avLst>
          </a:prstGeom>
          <a:solidFill>
            <a:srgbClr val="7FD5B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70832" y="2916936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</a:rPr>
              <a:t>Verde 47%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370832" y="3191256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</a:rPr>
              <a:t>#7FD5B5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6291072" y="2706624"/>
            <a:ext cx="2359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55664" y="2871216"/>
            <a:ext cx="566928" cy="566928"/>
          </a:xfrm>
          <a:prstGeom prst="roundRect">
            <a:avLst>
              <a:gd name="adj" fmla="val 6452"/>
            </a:avLst>
          </a:prstGeom>
          <a:solidFill>
            <a:srgbClr val="ECFDF5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9752" y="2916936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</a:rPr>
              <a:t>Verde suave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159752" y="3191256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</a:rPr>
              <a:t>#ECFDF5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9079992" y="2706624"/>
            <a:ext cx="2359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244584" y="2871216"/>
            <a:ext cx="566928" cy="566928"/>
          </a:xfrm>
          <a:prstGeom prst="roundRect">
            <a:avLst>
              <a:gd name="adj" fmla="val 6452"/>
            </a:avLst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948672" y="2916936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</a:rPr>
              <a:t>Borde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9948672" y="3191256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</a:rPr>
              <a:t>#E5E7EB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13232" y="4151376"/>
            <a:ext cx="2359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4315968"/>
            <a:ext cx="566928" cy="566928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581912" y="4361688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</a:rPr>
              <a:t>Cards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581912" y="4636008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</a:rPr>
              <a:t>#FFFFFF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502152" y="4151376"/>
            <a:ext cx="2359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666744" y="4315968"/>
            <a:ext cx="566928" cy="566928"/>
          </a:xfrm>
          <a:prstGeom prst="roundRect">
            <a:avLst>
              <a:gd name="adj" fmla="val 6452"/>
            </a:avLst>
          </a:prstGeom>
          <a:solidFill>
            <a:srgbClr val="FF4444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70832" y="4361688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</a:rPr>
              <a:t>Error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370832" y="4636008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</a:rPr>
              <a:t>#FF4444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6291072" y="4151376"/>
            <a:ext cx="2359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55664" y="4315968"/>
            <a:ext cx="566928" cy="566928"/>
          </a:xfrm>
          <a:prstGeom prst="roundRect">
            <a:avLst>
              <a:gd name="adj" fmla="val 6452"/>
            </a:avLst>
          </a:prstGeom>
          <a:solidFill>
            <a:srgbClr val="FEF2F2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59752" y="4361688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</a:rPr>
              <a:t>Error suave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159752" y="4636008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</a:rPr>
              <a:t>#FEF2F2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9079992" y="4151376"/>
            <a:ext cx="2359152" cy="100584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244584" y="4315968"/>
            <a:ext cx="566928" cy="566928"/>
          </a:xfrm>
          <a:prstGeom prst="roundRect">
            <a:avLst>
              <a:gd name="adj" fmla="val 6452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948672" y="4361688"/>
            <a:ext cx="11155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11111"/>
                </a:solidFill>
              </a:rPr>
              <a:t>Bloque neutro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948672" y="4636008"/>
            <a:ext cx="11155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4B5563"/>
                </a:solidFill>
              </a:rPr>
              <a:t>#F3F4F6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749808" y="5971032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No usar: marfil, dorado, azul, teal, morados ni gradientes.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561320" y="644652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4B5563"/>
                </a:solidFill>
              </a:rPr>
              <a:t>Guia visual educativa</a:t>
            </a:r>
            <a:endParaRPr lang="en-US" sz="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029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86968" y="676656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Concepto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86968" y="1033272"/>
            <a:ext cx="32095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4B5563"/>
                </a:solidFill>
              </a:rPr>
              <a:t>Terminos propios: evaluacion, desempeno, estandar, competencia, curriculo, rubrica, criterio.</a:t>
            </a:r>
            <a:endParaRPr lang="en-US" sz="810" dirty="0"/>
          </a:p>
          <a:p>
            <a:pPr indent="0" marL="0">
              <a:buNone/>
            </a:pP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4B5563"/>
                </a:solidFill>
              </a:rPr>
              <a:t>El dominio lexico es clave para entender politicas y documentos de aula.</a:t>
            </a:r>
            <a:endParaRPr lang="en-US" sz="810" dirty="0"/>
          </a:p>
        </p:txBody>
      </p:sp>
      <p:sp>
        <p:nvSpPr>
          <p:cNvPr id="5" name="Shape 3"/>
          <p:cNvSpPr/>
          <p:nvPr/>
        </p:nvSpPr>
        <p:spPr>
          <a:xfrm>
            <a:off x="4553712" y="50292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ECFDF5"/>
          </a:solidFill>
          <a:ln w="10160">
            <a:solidFill>
              <a:srgbClr val="A7F3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54880" y="676656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</a:rPr>
              <a:t>Neuro-Didactica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033272"/>
            <a:ext cx="32095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4B5563"/>
                </a:solidFill>
              </a:rPr>
              <a:t>Glosarios vivos: uso de palabras frecuentes en boletines y reglamentos.</a:t>
            </a:r>
            <a:endParaRPr lang="en-US" sz="810" dirty="0"/>
          </a:p>
          <a:p>
            <a:pPr indent="0" marL="0">
              <a:buNone/>
            </a:pP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4B5563"/>
                </a:solidFill>
              </a:rPr>
              <a:t>Traduccion bidireccional: reescribir definiciones.</a:t>
            </a:r>
            <a:endParaRPr lang="en-US" sz="810" dirty="0"/>
          </a:p>
        </p:txBody>
      </p:sp>
      <p:sp>
        <p:nvSpPr>
          <p:cNvPr id="8" name="Shape 6"/>
          <p:cNvSpPr/>
          <p:nvPr/>
        </p:nvSpPr>
        <p:spPr>
          <a:xfrm>
            <a:off x="685800" y="26517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825496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</a:rPr>
              <a:t>Normativa Colombiana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86968" y="3182112"/>
            <a:ext cx="32095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4B5563"/>
                </a:solidFill>
              </a:rPr>
              <a:t>Fuentes oficiales: MEN y SED definen terminos nucleares.</a:t>
            </a:r>
            <a:endParaRPr lang="en-US" sz="810" dirty="0"/>
          </a:p>
          <a:p>
            <a:pPr indent="0" marL="0">
              <a:buNone/>
            </a:pP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4B5563"/>
                </a:solidFill>
              </a:rPr>
              <a:t>Lineamientos y estandares formulan competencias usando vocabulario tecnico.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4553712" y="2651760"/>
            <a:ext cx="3611880" cy="1874520"/>
          </a:xfrm>
          <a:prstGeom prst="roundRect">
            <a:avLst>
              <a:gd name="adj" fmla="val 3902"/>
            </a:avLst>
          </a:prstGeom>
          <a:solidFill>
            <a:srgbClr val="FEF2F2"/>
          </a:solidFill>
          <a:ln w="10160">
            <a:solidFill>
              <a:srgbClr val="FECA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2825496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4444"/>
                </a:solidFill>
              </a:rPr>
              <a:t>Claves Concurso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3182112"/>
            <a:ext cx="3209544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4B5563"/>
                </a:solidFill>
              </a:rPr>
              <a:t>Diferenciacion: distinguir competencia vs estandar o evaluacion vs valoracion.</a:t>
            </a:r>
            <a:endParaRPr lang="en-US" sz="810" dirty="0"/>
          </a:p>
          <a:p>
            <a:pPr indent="0" marL="0">
              <a:buNone/>
            </a:pP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4B5563"/>
                </a:solidFill>
              </a:rPr>
              <a:t>La dificultad suele radicar en el lexico tecnico.</a:t>
            </a:r>
            <a:endParaRPr lang="en-US" sz="810" dirty="0"/>
          </a:p>
        </p:txBody>
      </p:sp>
      <p:sp>
        <p:nvSpPr>
          <p:cNvPr id="14" name="Text 12"/>
          <p:cNvSpPr/>
          <p:nvPr/>
        </p:nvSpPr>
        <p:spPr>
          <a:xfrm>
            <a:off x="8732520" y="82296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111"/>
                </a:solidFill>
              </a:rPr>
              <a:t>Grid 2x2 de cards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32520" y="1234440"/>
            <a:ext cx="2423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Usar blanco como base, verde suave para conceptos positivos o activos, y rojo suave solo para claves de error o negacion.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61320" y="644652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4B5563"/>
                </a:solidFill>
              </a:rPr>
              <a:t>Guia visual educativa</a:t>
            </a:r>
            <a:endParaRPr lang="en-US" sz="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" y="585216"/>
            <a:ext cx="10469880" cy="237744"/>
          </a:xfrm>
          <a:prstGeom prst="roundRect">
            <a:avLst>
              <a:gd name="adj" fmla="val 46154"/>
            </a:avLst>
          </a:prstGeom>
          <a:solidFill>
            <a:srgbClr val="CFF8E2"/>
          </a:solidFill>
          <a:ln w="12700">
            <a:solidFill>
              <a:srgbClr val="CFF8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7552" y="635508"/>
            <a:ext cx="1023213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59669"/>
                </a:solidFill>
              </a:rPr>
              <a:t>ITEM 1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68680" y="1051560"/>
            <a:ext cx="9784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11111"/>
                </a:solidFill>
              </a:rPr>
              <a:t>Segun el texto, ?cual afirmacion es correcta a nivel estrictamente literal?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868680" y="1517904"/>
            <a:ext cx="104698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828800"/>
            <a:ext cx="104698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5568" y="1975104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25296" y="2025396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</a:rPr>
              <a:t>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737360" y="1993392"/>
            <a:ext cx="900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En las preguntas literales, una de las mayores dificultades fue reconocer la idea principal sin confundirla con detalles secundarios.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68680" y="2615184"/>
            <a:ext cx="104698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5568" y="2761488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25296" y="2811780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</a:rPr>
              <a:t>B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737360" y="2779776"/>
            <a:ext cx="900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En las preguntas inferenciales, la mayoria de estudiantes respondio desde conocimientos previos sin usar el texto.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68680" y="3401568"/>
            <a:ext cx="104698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15568" y="3547872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25296" y="3598164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</a:rPr>
              <a:t>C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37360" y="3566160"/>
            <a:ext cx="900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En las preguntas criticas, mas de la mitad logro justificar su postura con razones basadas en el texto.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68680" y="4187952"/>
            <a:ext cx="104698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15568" y="4334256"/>
            <a:ext cx="411480" cy="274320"/>
          </a:xfrm>
          <a:prstGeom prst="roundRect">
            <a:avLst>
              <a:gd name="adj" fmla="val 1666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25296" y="4384548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</a:rPr>
              <a:t>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737360" y="4352544"/>
            <a:ext cx="9006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El area decidio eliminar las preguntas literales de futuras evaluaciones por ser muy faciles.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0561320" y="644652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4B5563"/>
                </a:solidFill>
              </a:rPr>
              <a:t>Guia visual educativa</a:t>
            </a:r>
            <a:endParaRPr lang="en-US" sz="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566928"/>
            <a:ext cx="10515600" cy="237744"/>
          </a:xfrm>
          <a:prstGeom prst="roundRect">
            <a:avLst>
              <a:gd name="adj" fmla="val 46154"/>
            </a:avLst>
          </a:prstGeom>
          <a:solidFill>
            <a:srgbClr val="CFF8E2"/>
          </a:solidFill>
          <a:ln w="12700">
            <a:solidFill>
              <a:srgbClr val="CFF8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41832" y="617220"/>
            <a:ext cx="10277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59669"/>
                </a:solidFill>
              </a:rPr>
              <a:t>RETROALIMENTACION ITEM 3</a:t>
            </a:r>
            <a:endParaRPr lang="en-US" sz="680" dirty="0"/>
          </a:p>
        </p:txBody>
      </p:sp>
      <p:sp>
        <p:nvSpPr>
          <p:cNvPr id="4" name="Shape 2"/>
          <p:cNvSpPr/>
          <p:nvPr/>
        </p:nvSpPr>
        <p:spPr>
          <a:xfrm>
            <a:off x="822960" y="1051560"/>
            <a:ext cx="54864" cy="10515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051560"/>
            <a:ext cx="10460736" cy="1051560"/>
          </a:xfrm>
          <a:prstGeom prst="rect">
            <a:avLst/>
          </a:prstGeom>
          <a:solidFill>
            <a:srgbClr val="D1FAE5"/>
          </a:solidFill>
          <a:ln w="6350">
            <a:solidFill>
              <a:srgbClr val="4B55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2984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</a:rPr>
              <a:t>Respuesta Correcta: C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43000" y="1664208"/>
            <a:ext cx="9509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Estoy de acuerdo con que la lectura critica exige ir mas alla de la memoria, pero el texto tambien reconoce el contexto sociocultural del lector.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6060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?Por que C es correcta?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880360"/>
            <a:ext cx="49834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090672"/>
            <a:ext cx="4800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4B5563"/>
                </a:solidFill>
              </a:rPr>
              <a:t>Retoma la tesis central y aporta una postura razonable. Es una respuesta coherente que dialoga con el texto sin desconectarse de su tema central.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6172200" y="2606040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0000"/>
                </a:solidFill>
              </a:rPr>
              <a:t>?Por que las otras NO son correctas?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2880360"/>
            <a:ext cx="4983480" cy="0"/>
          </a:xfrm>
          <a:prstGeom prst="line">
            <a:avLst/>
          </a:prstGeom>
          <a:noFill/>
          <a:ln w="1016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3090672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dirty="0">
                <a:solidFill>
                  <a:srgbClr val="4B5563"/>
                </a:solidFill>
              </a:rPr>
              <a:t>A. Niega el texto sin argumentos.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B5563"/>
                </a:solidFill>
              </a:rPr>
              <a:t>B. Desfigura la postura del autor.</a:t>
            </a:r>
            <a:endParaRPr lang="en-US" sz="980" dirty="0"/>
          </a:p>
          <a:p>
            <a:pPr indent="0" marL="0">
              <a:buNone/>
            </a:pPr>
            <a:r>
              <a:rPr lang="en-US" sz="980" dirty="0">
                <a:solidFill>
                  <a:srgbClr val="4B5563"/>
                </a:solidFill>
              </a:rPr>
              <a:t>D. Cambia el tema hacia una opinion sin relacion.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6172200" y="3090672"/>
            <a:ext cx="228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80" b="1" dirty="0">
                <a:solidFill>
                  <a:srgbClr val="FF4444"/>
                </a:solidFill>
              </a:rPr>
              <a:t>A.</a:t>
            </a:r>
            <a:endParaRPr lang="en-US" sz="980" dirty="0"/>
          </a:p>
          <a:p>
            <a:pPr indent="0" marL="0">
              <a:buNone/>
            </a:pPr>
            <a:r>
              <a:rPr lang="en-US" sz="980" b="1" dirty="0">
                <a:solidFill>
                  <a:srgbClr val="FF4444"/>
                </a:solidFill>
              </a:rPr>
              <a:t>B.</a:t>
            </a:r>
            <a:endParaRPr lang="en-US" sz="980" dirty="0"/>
          </a:p>
          <a:p>
            <a:pPr indent="0" marL="0">
              <a:buNone/>
            </a:pPr>
            <a:r>
              <a:rPr lang="en-US" sz="980" b="1" dirty="0">
                <a:solidFill>
                  <a:srgbClr val="FF4444"/>
                </a:solidFill>
              </a:rPr>
              <a:t>D.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10561320" y="644652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4B5563"/>
                </a:solidFill>
              </a:rPr>
              <a:t>Guia visual educativa</a:t>
            </a:r>
            <a:endParaRPr lang="en-US" sz="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" y="603504"/>
            <a:ext cx="10497312" cy="237744"/>
          </a:xfrm>
          <a:prstGeom prst="roundRect">
            <a:avLst>
              <a:gd name="adj" fmla="val 46154"/>
            </a:avLst>
          </a:prstGeom>
          <a:solidFill>
            <a:srgbClr val="CFF8E2"/>
          </a:solidFill>
          <a:ln w="12700">
            <a:solidFill>
              <a:srgbClr val="CFF8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60120" y="653796"/>
            <a:ext cx="1025956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59669"/>
                </a:solidFill>
              </a:rPr>
              <a:t>CASO 3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41248" y="1097280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00000"/>
                </a:solidFill>
              </a:rPr>
              <a:t>Contexto - Nivel Critico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841248" y="1691640"/>
            <a:ext cx="54864" cy="44988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1691640"/>
            <a:ext cx="10442448" cy="4498848"/>
          </a:xfrm>
          <a:prstGeom prst="roundRect">
            <a:avLst>
              <a:gd name="adj" fmla="val 122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53312" y="1847088"/>
            <a:ext cx="941832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Texto 3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En un seminario para docentes sobre lectura critica, un formador presenta la siguiente afirmacion: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En muchos contextos escolares se sigue pensando que leer bien es contestar preguntas del texto. Esta vision reduce la lectura a una actividad de comprobacion de memoria.</a:t>
            </a:r>
            <a:endParaRPr lang="en-US" sz="1120" dirty="0"/>
          </a:p>
          <a:p>
            <a:pPr indent="0" marL="0">
              <a:buNone/>
            </a:pP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000000"/>
                </a:solidFill>
              </a:rPr>
              <a:t>Sin embargo, comprender un texto implica movimientos complementarios: entender lo que dice, comprender lo que sugiere y tomar posicion frente a lo que plantea.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10561320" y="644652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4B5563"/>
                </a:solidFill>
              </a:rPr>
              <a:t>Guia visual educativa</a:t>
            </a:r>
            <a:endParaRPr lang="en-US" sz="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676656"/>
            <a:ext cx="6720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Responsabilidades e Instrumentos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635240" y="905256"/>
            <a:ext cx="566928" cy="0"/>
          </a:xfrm>
          <a:prstGeom prst="line">
            <a:avLst/>
          </a:prstGeom>
          <a:noFill/>
          <a:ln w="3048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" y="1508760"/>
            <a:ext cx="10652760" cy="80467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47088"/>
            <a:ext cx="1453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</a:rPr>
              <a:t>Aspecto</a:t>
            </a:r>
            <a:endParaRPr lang="en-US" sz="1030" dirty="0"/>
          </a:p>
        </p:txBody>
      </p:sp>
      <p:sp>
        <p:nvSpPr>
          <p:cNvPr id="6" name="Text 4"/>
          <p:cNvSpPr/>
          <p:nvPr/>
        </p:nvSpPr>
        <p:spPr>
          <a:xfrm>
            <a:off x="2496312" y="184708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</a:rPr>
              <a:t>Necesidades Educativas</a:t>
            </a:r>
            <a:endParaRPr lang="en-US" sz="1030" dirty="0"/>
          </a:p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</a:rPr>
              <a:t>Especiales (NEE)</a:t>
            </a:r>
            <a:endParaRPr lang="en-US" sz="1030" dirty="0"/>
          </a:p>
        </p:txBody>
      </p:sp>
      <p:sp>
        <p:nvSpPr>
          <p:cNvPr id="7" name="Text 5"/>
          <p:cNvSpPr/>
          <p:nvPr/>
        </p:nvSpPr>
        <p:spPr>
          <a:xfrm>
            <a:off x="5541264" y="1847088"/>
            <a:ext cx="2642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</a:rPr>
              <a:t>Decreto 1421 de 2017</a:t>
            </a:r>
            <a:endParaRPr lang="en-US" sz="1030" dirty="0"/>
          </a:p>
        </p:txBody>
      </p:sp>
      <p:sp>
        <p:nvSpPr>
          <p:cNvPr id="8" name="Text 6"/>
          <p:cNvSpPr/>
          <p:nvPr/>
        </p:nvSpPr>
        <p:spPr>
          <a:xfrm>
            <a:off x="8531352" y="1847088"/>
            <a:ext cx="2798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000000"/>
                </a:solidFill>
              </a:rPr>
              <a:t>Estrategias diferenciales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749808" y="2395728"/>
            <a:ext cx="10652760" cy="0"/>
          </a:xfrm>
          <a:prstGeom prst="line">
            <a:avLst/>
          </a:prstGeom>
          <a:noFill/>
          <a:ln w="25400">
            <a:solidFill>
              <a:srgbClr val="0596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414016"/>
            <a:ext cx="10652760" cy="86868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633472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0000"/>
                </a:solidFill>
              </a:rPr>
              <a:t>Responsabilidad del</a:t>
            </a:r>
            <a:endParaRPr lang="en-US" sz="860" dirty="0"/>
          </a:p>
          <a:p>
            <a:pPr indent="0" marL="0">
              <a:buNone/>
            </a:pPr>
            <a:r>
              <a:rPr lang="en-US" sz="860" b="1" dirty="0">
                <a:solidFill>
                  <a:srgbClr val="000000"/>
                </a:solidFill>
              </a:rPr>
              <a:t>docente</a:t>
            </a:r>
            <a:endParaRPr lang="en-US" sz="86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642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B5563"/>
                </a:solidFill>
              </a:rPr>
              <a:t>Reconocer las NEE y ajustar su practica pedagogica.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5541264" y="2633472"/>
            <a:ext cx="2642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B5563"/>
                </a:solidFill>
              </a:rPr>
              <a:t>Implementar ajustes razonables con apoyo institucional.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8531352" y="263347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B5563"/>
                </a:solidFill>
              </a:rPr>
              <a:t>Disenar, aplicar y evaluar estrategias flexibles.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749808" y="3282696"/>
            <a:ext cx="10652760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502152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0000"/>
                </a:solidFill>
              </a:rPr>
              <a:t>Responsabilidad</a:t>
            </a:r>
            <a:endParaRPr lang="en-US" sz="860" dirty="0"/>
          </a:p>
          <a:p>
            <a:pPr indent="0" marL="0">
              <a:buNone/>
            </a:pPr>
            <a:r>
              <a:rPr lang="en-US" sz="860" b="1" dirty="0">
                <a:solidFill>
                  <a:srgbClr val="000000"/>
                </a:solidFill>
              </a:rPr>
              <a:t>institucion</a:t>
            </a:r>
            <a:endParaRPr lang="en-US" sz="860" dirty="0"/>
          </a:p>
        </p:txBody>
      </p:sp>
      <p:sp>
        <p:nvSpPr>
          <p:cNvPr id="17" name="Text 15"/>
          <p:cNvSpPr/>
          <p:nvPr/>
        </p:nvSpPr>
        <p:spPr>
          <a:xfrm>
            <a:off x="2496312" y="3502152"/>
            <a:ext cx="2642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B5563"/>
                </a:solidFill>
              </a:rPr>
              <a:t>Identificar barreras y apoyar procesos pedagogicos.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5541264" y="3502152"/>
            <a:ext cx="2642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B5563"/>
                </a:solidFill>
              </a:rPr>
              <a:t>Garantizar apoyos, PIAR y accesibilidad.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8531352" y="350215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B5563"/>
                </a:solidFill>
              </a:rPr>
              <a:t>Acompanhar y fortalecer practicas inclusivas.</a:t>
            </a:r>
            <a:endParaRPr lang="en-US" sz="940" dirty="0"/>
          </a:p>
        </p:txBody>
      </p:sp>
      <p:sp>
        <p:nvSpPr>
          <p:cNvPr id="20" name="Shape 18"/>
          <p:cNvSpPr/>
          <p:nvPr/>
        </p:nvSpPr>
        <p:spPr>
          <a:xfrm>
            <a:off x="749808" y="4151376"/>
            <a:ext cx="10652760" cy="868680"/>
          </a:xfrm>
          <a:prstGeom prst="rect">
            <a:avLst/>
          </a:prstGeom>
          <a:solidFill>
            <a:srgbClr val="E2E8F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370832"/>
            <a:ext cx="1453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b="1" dirty="0">
                <a:solidFill>
                  <a:srgbClr val="000000"/>
                </a:solidFill>
              </a:rPr>
              <a:t>Instrumentos</a:t>
            </a:r>
            <a:endParaRPr lang="en-US" sz="860" dirty="0"/>
          </a:p>
          <a:p>
            <a:pPr indent="0" marL="0">
              <a:buNone/>
            </a:pPr>
            <a:r>
              <a:rPr lang="en-US" sz="860" b="1" dirty="0">
                <a:solidFill>
                  <a:srgbClr val="000000"/>
                </a:solidFill>
              </a:rPr>
              <a:t>asociados</a:t>
            </a:r>
            <a:endParaRPr lang="en-US" sz="860" dirty="0"/>
          </a:p>
        </p:txBody>
      </p:sp>
      <p:sp>
        <p:nvSpPr>
          <p:cNvPr id="22" name="Text 20"/>
          <p:cNvSpPr/>
          <p:nvPr/>
        </p:nvSpPr>
        <p:spPr>
          <a:xfrm>
            <a:off x="2496312" y="4370832"/>
            <a:ext cx="2642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B5563"/>
                </a:solidFill>
              </a:rPr>
              <a:t>Observacion pedagogica, caracterizacion del estudiante.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5541264" y="4370832"/>
            <a:ext cx="2642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B5563"/>
                </a:solidFill>
              </a:rPr>
              <a:t>PIAR y metodologias de apoyo.</a:t>
            </a:r>
            <a:endParaRPr lang="en-US" sz="940" dirty="0"/>
          </a:p>
        </p:txBody>
      </p:sp>
      <p:sp>
        <p:nvSpPr>
          <p:cNvPr id="24" name="Text 22"/>
          <p:cNvSpPr/>
          <p:nvPr/>
        </p:nvSpPr>
        <p:spPr>
          <a:xfrm>
            <a:off x="8531352" y="4370832"/>
            <a:ext cx="27980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4B5563"/>
                </a:solidFill>
              </a:rPr>
              <a:t>Adaptaciones curriculares, metodologicas y evaluativas.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10561320" y="644652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4B5563"/>
                </a:solidFill>
              </a:rPr>
              <a:t>Guia visual educativa</a:t>
            </a:r>
            <a:endParaRPr lang="en-US" sz="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" y="2359152"/>
            <a:ext cx="731520" cy="237744"/>
          </a:xfrm>
          <a:prstGeom prst="roundRect">
            <a:avLst>
              <a:gd name="adj" fmla="val 46154"/>
            </a:avLst>
          </a:prstGeom>
          <a:solidFill>
            <a:srgbClr val="CFF8E2"/>
          </a:solidFill>
          <a:ln w="12700">
            <a:solidFill>
              <a:srgbClr val="CFF8E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23544" y="2409444"/>
            <a:ext cx="4937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b="1" dirty="0">
                <a:solidFill>
                  <a:srgbClr val="059669"/>
                </a:solidFill>
              </a:rPr>
              <a:t>AREA 1</a:t>
            </a:r>
            <a:endParaRPr lang="en-US" sz="680" dirty="0"/>
          </a:p>
        </p:txBody>
      </p:sp>
      <p:sp>
        <p:nvSpPr>
          <p:cNvPr id="4" name="Text 2"/>
          <p:cNvSpPr/>
          <p:nvPr/>
        </p:nvSpPr>
        <p:spPr>
          <a:xfrm>
            <a:off x="804672" y="28346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Gestion Directiva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04672" y="3529584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El area encargada del direccionamiento estrategico y la orientacion integral de la institucion educativa.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0" y="0"/>
            <a:ext cx="6245352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92240" y="685800"/>
            <a:ext cx="4480560" cy="2651760"/>
          </a:xfrm>
          <a:prstGeom prst="rect">
            <a:avLst/>
          </a:prstGeom>
          <a:solidFill>
            <a:srgbClr val="FFFFFF">
              <a:alpha val="85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7190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4B5563"/>
                </a:solidFill>
              </a:rPr>
              <a:t>Imagen lateral</a:t>
            </a:r>
            <a:endParaRPr lang="en-US" sz="2300" dirty="0"/>
          </a:p>
          <a:p>
            <a:pPr algn="ctr" indent="0" marL="0">
              <a:buNone/>
            </a:pPr>
            <a:r>
              <a:rPr lang="en-US" sz="2300" b="1" dirty="0">
                <a:solidFill>
                  <a:srgbClr val="4B5563"/>
                </a:solidFill>
              </a:rPr>
              <a:t>real y luminosa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903720" y="22128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B5563"/>
                </a:solidFill>
              </a:rPr>
              <a:t>Reservar este espacio para fotografia educativa o institucional.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61320" y="644652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4B5563"/>
                </a:solidFill>
              </a:rPr>
              <a:t>Guia visual educativa</a:t>
            </a:r>
            <a:endParaRPr lang="en-US" sz="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808" y="62179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926080" y="850392"/>
            <a:ext cx="566928" cy="0"/>
          </a:xfrm>
          <a:prstGeom prst="line">
            <a:avLst/>
          </a:prstGeom>
          <a:noFill/>
          <a:ln w="30480">
            <a:solidFill>
              <a:srgbClr val="05966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1732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38988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</a:rPr>
              <a:t>Fondo #F8FAFC o blanco</a:t>
            </a:r>
            <a:endParaRPr lang="en-US" sz="1220" dirty="0"/>
          </a:p>
        </p:txBody>
      </p:sp>
      <p:sp>
        <p:nvSpPr>
          <p:cNvPr id="6" name="Shape 4"/>
          <p:cNvSpPr/>
          <p:nvPr/>
        </p:nvSpPr>
        <p:spPr>
          <a:xfrm>
            <a:off x="5943600" y="1417320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63640" y="138988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</a:rPr>
              <a:t>Titulos negros fuertes</a:t>
            </a:r>
            <a:endParaRPr lang="en-US" sz="1220" dirty="0"/>
          </a:p>
        </p:txBody>
      </p:sp>
      <p:sp>
        <p:nvSpPr>
          <p:cNvPr id="8" name="Shape 6"/>
          <p:cNvSpPr/>
          <p:nvPr/>
        </p:nvSpPr>
        <p:spPr>
          <a:xfrm>
            <a:off x="822960" y="2203704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43000" y="21762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</a:rPr>
              <a:t>Texto secundario #4B5563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5943600" y="2203704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217627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</a:rPr>
              <a:t>Cards blancas con borde #E5E7EB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22960" y="2990088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43000" y="29626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</a:rPr>
              <a:t>Pills verdes suaves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943600" y="2990088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63640" y="2962656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</a:rPr>
              <a:t>Error y negacion en #FF4444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822960" y="3776472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43000" y="3749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</a:rPr>
              <a:t>Sin marfil, dorado, azul ni teal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5943600" y="3776472"/>
            <a:ext cx="164592" cy="164592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37490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11111"/>
                </a:solidFill>
              </a:rPr>
              <a:t>Color siempre con funcion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10561320" y="6446520"/>
            <a:ext cx="10058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50" dirty="0">
                <a:solidFill>
                  <a:srgbClr val="4B5563"/>
                </a:solidFill>
              </a:rPr>
              <a:t>Guia visual educativa</a:t>
            </a:r>
            <a:endParaRPr lang="en-US" sz="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Guia visual para presentaciones educativas</dc:title>
  <dc:subject>Guia visual para presentaciones educativas</dc:subject>
  <dc:creator>Codex</dc:creator>
  <cp:lastModifiedBy>Codex</cp:lastModifiedBy>
  <cp:revision>1</cp:revision>
  <dcterms:created xsi:type="dcterms:W3CDTF">2026-05-02T20:13:17Z</dcterms:created>
  <dcterms:modified xsi:type="dcterms:W3CDTF">2026-05-02T20:13:17Z</dcterms:modified>
</cp:coreProperties>
</file>